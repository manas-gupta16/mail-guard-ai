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8" r:id="rId10"/>
  </p:sldIdLst>
  <p:sldSz cx="18288000" cy="10287000"/>
  <p:notesSz cx="6858000" cy="9144000"/>
  <p:embeddedFontLst>
    <p:embeddedFont>
      <p:font typeface="Cheddar" panose="020B0604020202020204" charset="0"/>
      <p:regular r:id="rId11"/>
    </p:embeddedFont>
    <p:embeddedFont>
      <p:font typeface="Telegraf" panose="020B0604020202020204" charset="0"/>
      <p:regular r:id="rId12"/>
    </p:embeddedFont>
    <p:embeddedFont>
      <p:font typeface="Telegraf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8725" y="2584299"/>
            <a:ext cx="1260008" cy="1653948"/>
          </a:xfrm>
          <a:custGeom>
            <a:avLst/>
            <a:gdLst/>
            <a:ahLst/>
            <a:cxnLst/>
            <a:rect l="l" t="t" r="r" b="b"/>
            <a:pathLst>
              <a:path w="1260008" h="1653948">
                <a:moveTo>
                  <a:pt x="0" y="0"/>
                </a:moveTo>
                <a:lnTo>
                  <a:pt x="1260008" y="0"/>
                </a:lnTo>
                <a:lnTo>
                  <a:pt x="1260008" y="1653948"/>
                </a:lnTo>
                <a:lnTo>
                  <a:pt x="0" y="1653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144000" y="6654617"/>
            <a:ext cx="4261441" cy="1283135"/>
            <a:chOff x="-8897" y="-95250"/>
            <a:chExt cx="1155253" cy="323214"/>
          </a:xfrm>
        </p:grpSpPr>
        <p:sp>
          <p:nvSpPr>
            <p:cNvPr id="4" name="Freeform 4"/>
            <p:cNvSpPr/>
            <p:nvPr/>
          </p:nvSpPr>
          <p:spPr>
            <a:xfrm>
              <a:off x="-8897" y="-41282"/>
              <a:ext cx="1146356" cy="227964"/>
            </a:xfrm>
            <a:custGeom>
              <a:avLst/>
              <a:gdLst/>
              <a:ahLst/>
              <a:cxnLst/>
              <a:rect l="l" t="t" r="r" b="b"/>
              <a:pathLst>
                <a:path w="1146356" h="227964">
                  <a:moveTo>
                    <a:pt x="86760" y="0"/>
                  </a:moveTo>
                  <a:lnTo>
                    <a:pt x="1059596" y="0"/>
                  </a:lnTo>
                  <a:cubicBezTo>
                    <a:pt x="1107512" y="0"/>
                    <a:pt x="1146356" y="38844"/>
                    <a:pt x="1146356" y="86760"/>
                  </a:cubicBezTo>
                  <a:lnTo>
                    <a:pt x="1146356" y="141205"/>
                  </a:lnTo>
                  <a:cubicBezTo>
                    <a:pt x="1146356" y="164215"/>
                    <a:pt x="1137215" y="186282"/>
                    <a:pt x="1120945" y="202553"/>
                  </a:cubicBezTo>
                  <a:cubicBezTo>
                    <a:pt x="1104674" y="218823"/>
                    <a:pt x="1082606" y="227964"/>
                    <a:pt x="1059596" y="227964"/>
                  </a:cubicBezTo>
                  <a:lnTo>
                    <a:pt x="86760" y="227964"/>
                  </a:lnTo>
                  <a:cubicBezTo>
                    <a:pt x="38844" y="227964"/>
                    <a:pt x="0" y="189121"/>
                    <a:pt x="0" y="141205"/>
                  </a:cubicBezTo>
                  <a:lnTo>
                    <a:pt x="0" y="86760"/>
                  </a:lnTo>
                  <a:cubicBezTo>
                    <a:pt x="0" y="38844"/>
                    <a:pt x="38844" y="0"/>
                    <a:pt x="86760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1146356" cy="323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 dirty="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PRESENTED BY: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968729" y="8096329"/>
            <a:ext cx="4550946" cy="1283135"/>
            <a:chOff x="0" y="-52848"/>
            <a:chExt cx="1146356" cy="3232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6356" cy="227964"/>
            </a:xfrm>
            <a:custGeom>
              <a:avLst/>
              <a:gdLst/>
              <a:ahLst/>
              <a:cxnLst/>
              <a:rect l="l" t="t" r="r" b="b"/>
              <a:pathLst>
                <a:path w="1146356" h="227964">
                  <a:moveTo>
                    <a:pt x="86760" y="0"/>
                  </a:moveTo>
                  <a:lnTo>
                    <a:pt x="1059596" y="0"/>
                  </a:lnTo>
                  <a:cubicBezTo>
                    <a:pt x="1107512" y="0"/>
                    <a:pt x="1146356" y="38844"/>
                    <a:pt x="1146356" y="86760"/>
                  </a:cubicBezTo>
                  <a:lnTo>
                    <a:pt x="1146356" y="141205"/>
                  </a:lnTo>
                  <a:cubicBezTo>
                    <a:pt x="1146356" y="164215"/>
                    <a:pt x="1137215" y="186282"/>
                    <a:pt x="1120945" y="202553"/>
                  </a:cubicBezTo>
                  <a:cubicBezTo>
                    <a:pt x="1104674" y="218823"/>
                    <a:pt x="1082606" y="227964"/>
                    <a:pt x="1059596" y="227964"/>
                  </a:cubicBezTo>
                  <a:lnTo>
                    <a:pt x="86760" y="227964"/>
                  </a:lnTo>
                  <a:cubicBezTo>
                    <a:pt x="38844" y="227964"/>
                    <a:pt x="0" y="189121"/>
                    <a:pt x="0" y="141205"/>
                  </a:cubicBezTo>
                  <a:lnTo>
                    <a:pt x="0" y="86760"/>
                  </a:lnTo>
                  <a:cubicBezTo>
                    <a:pt x="0" y="38844"/>
                    <a:pt x="38844" y="0"/>
                    <a:pt x="86760" y="0"/>
                  </a:cubicBezTo>
                  <a:close/>
                </a:path>
              </a:pathLst>
            </a:custGeom>
            <a:solidFill>
              <a:srgbClr val="F7562B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2848"/>
              <a:ext cx="1146356" cy="323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 dirty="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MANAS GUPTA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569995" y="1199562"/>
            <a:ext cx="8694298" cy="5770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999"/>
              </a:lnSpc>
            </a:pPr>
            <a:r>
              <a:rPr lang="en-IN" sz="8800" dirty="0">
                <a:latin typeface="Cheddar" panose="020B0604020202020204" charset="0"/>
              </a:rPr>
              <a:t>Mail Guard AI</a:t>
            </a:r>
          </a:p>
          <a:p>
            <a:pPr>
              <a:lnSpc>
                <a:spcPts val="8999"/>
              </a:lnSpc>
            </a:pPr>
            <a:r>
              <a:rPr lang="en-US" sz="6000" dirty="0">
                <a:latin typeface="Cheddar" panose="020B0604020202020204" charset="0"/>
              </a:rPr>
              <a:t>Intelligent Spam Detection System using Machine Learning</a:t>
            </a:r>
            <a:endParaRPr lang="en-IN" sz="6000" dirty="0">
              <a:solidFill>
                <a:srgbClr val="290606"/>
              </a:solidFill>
              <a:latin typeface="Cheddar" panose="020B0604020202020204" charset="0"/>
              <a:ea typeface="Cheddar"/>
              <a:cs typeface="Cheddar"/>
              <a:sym typeface="Cheddar"/>
            </a:endParaRPr>
          </a:p>
          <a:p>
            <a:pPr>
              <a:lnSpc>
                <a:spcPts val="8999"/>
              </a:lnSpc>
            </a:pPr>
            <a:endParaRPr lang="en-US" sz="8800" dirty="0">
              <a:solidFill>
                <a:srgbClr val="290606"/>
              </a:solidFill>
              <a:latin typeface="Cheddar" panose="020B0604020202020204" charset="0"/>
              <a:ea typeface="Cheddar"/>
              <a:cs typeface="Cheddar"/>
              <a:sym typeface="Chedda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112685" y="1222018"/>
            <a:ext cx="3856045" cy="322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spc="107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THYNK UNLIMITED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12685" y="1616931"/>
            <a:ext cx="3856045" cy="21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500" spc="73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WE LEARN FOR THE FUTURE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0C10B2-AEB8-280E-6581-EC0FD0CCF59E}"/>
              </a:ext>
            </a:extLst>
          </p:cNvPr>
          <p:cNvSpPr txBox="1"/>
          <p:nvPr/>
        </p:nvSpPr>
        <p:spPr>
          <a:xfrm>
            <a:off x="4503341" y="4958834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180DD63-0814-95A0-8EA9-BF21476AB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89" y="1021057"/>
            <a:ext cx="10164680" cy="7075273"/>
          </a:xfrm>
          <a:prstGeom prst="rect">
            <a:avLst/>
          </a:prstGeom>
        </p:spPr>
      </p:pic>
      <p:grpSp>
        <p:nvGrpSpPr>
          <p:cNvPr id="21" name="Group 6">
            <a:extLst>
              <a:ext uri="{FF2B5EF4-FFF2-40B4-BE49-F238E27FC236}">
                <a16:creationId xmlns:a16="http://schemas.microsoft.com/office/drawing/2014/main" id="{B67CA605-6F20-0D18-19B3-33D0797993C2}"/>
              </a:ext>
            </a:extLst>
          </p:cNvPr>
          <p:cNvGrpSpPr/>
          <p:nvPr/>
        </p:nvGrpSpPr>
        <p:grpSpPr>
          <a:xfrm>
            <a:off x="12192000" y="8096330"/>
            <a:ext cx="4550946" cy="1283135"/>
            <a:chOff x="0" y="-52848"/>
            <a:chExt cx="1146356" cy="323214"/>
          </a:xfrm>
        </p:grpSpPr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E78770C2-2796-F42E-4DD3-85FAD9032DDA}"/>
                </a:ext>
              </a:extLst>
            </p:cNvPr>
            <p:cNvSpPr/>
            <p:nvPr/>
          </p:nvSpPr>
          <p:spPr>
            <a:xfrm>
              <a:off x="0" y="0"/>
              <a:ext cx="1146356" cy="227964"/>
            </a:xfrm>
            <a:custGeom>
              <a:avLst/>
              <a:gdLst/>
              <a:ahLst/>
              <a:cxnLst/>
              <a:rect l="l" t="t" r="r" b="b"/>
              <a:pathLst>
                <a:path w="1146356" h="227964">
                  <a:moveTo>
                    <a:pt x="86760" y="0"/>
                  </a:moveTo>
                  <a:lnTo>
                    <a:pt x="1059596" y="0"/>
                  </a:lnTo>
                  <a:cubicBezTo>
                    <a:pt x="1107512" y="0"/>
                    <a:pt x="1146356" y="38844"/>
                    <a:pt x="1146356" y="86760"/>
                  </a:cubicBezTo>
                  <a:lnTo>
                    <a:pt x="1146356" y="141205"/>
                  </a:lnTo>
                  <a:cubicBezTo>
                    <a:pt x="1146356" y="164215"/>
                    <a:pt x="1137215" y="186282"/>
                    <a:pt x="1120945" y="202553"/>
                  </a:cubicBezTo>
                  <a:cubicBezTo>
                    <a:pt x="1104674" y="218823"/>
                    <a:pt x="1082606" y="227964"/>
                    <a:pt x="1059596" y="227964"/>
                  </a:cubicBezTo>
                  <a:lnTo>
                    <a:pt x="86760" y="227964"/>
                  </a:lnTo>
                  <a:cubicBezTo>
                    <a:pt x="38844" y="227964"/>
                    <a:pt x="0" y="189121"/>
                    <a:pt x="0" y="141205"/>
                  </a:cubicBezTo>
                  <a:lnTo>
                    <a:pt x="0" y="86760"/>
                  </a:lnTo>
                  <a:cubicBezTo>
                    <a:pt x="0" y="38844"/>
                    <a:pt x="38844" y="0"/>
                    <a:pt x="86760" y="0"/>
                  </a:cubicBezTo>
                  <a:close/>
                </a:path>
              </a:pathLst>
            </a:custGeom>
            <a:solidFill>
              <a:srgbClr val="F7562B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3" name="TextBox 8">
              <a:extLst>
                <a:ext uri="{FF2B5EF4-FFF2-40B4-BE49-F238E27FC236}">
                  <a16:creationId xmlns:a16="http://schemas.microsoft.com/office/drawing/2014/main" id="{B7F9301C-B202-B66E-A795-2C0370D6FA76}"/>
                </a:ext>
              </a:extLst>
            </p:cNvPr>
            <p:cNvSpPr txBox="1"/>
            <p:nvPr/>
          </p:nvSpPr>
          <p:spPr>
            <a:xfrm>
              <a:off x="0" y="-52848"/>
              <a:ext cx="1146356" cy="323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 dirty="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PRATHAMESH LAHOTI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9311234" y="720883"/>
            <a:ext cx="8304328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000" b="1" dirty="0">
                <a:latin typeface="Cheddar" panose="020B0604020202020204" charset="0"/>
              </a:rPr>
              <a:t>Aim:</a:t>
            </a:r>
            <a:r>
              <a:rPr lang="en-US" sz="4000" dirty="0">
                <a:latin typeface="Cheddar" panose="020B0604020202020204" charset="0"/>
              </a:rPr>
              <a:t> </a:t>
            </a:r>
            <a:r>
              <a:rPr lang="en-US" sz="4000" b="1" dirty="0">
                <a:latin typeface="Cheddar" panose="020B0604020202020204" charset="0"/>
              </a:rPr>
              <a:t>To build a robust, intelligent, and highly accurate system capable of instantly classifying emails as Spam or legitimate (Ham).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569C55-70A3-8E46-C39A-18CFCAB45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800207" cy="10287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B941C24-AF2F-08B9-9EFA-FE3E68ECE912}"/>
              </a:ext>
            </a:extLst>
          </p:cNvPr>
          <p:cNvSpPr txBox="1"/>
          <p:nvPr/>
        </p:nvSpPr>
        <p:spPr>
          <a:xfrm>
            <a:off x="9144000" y="3619500"/>
            <a:ext cx="9144000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Cheddar" panose="020B0604020202020204" charset="0"/>
              </a:rPr>
              <a:t>Objective 1:</a:t>
            </a:r>
            <a:r>
              <a:rPr lang="en-US" sz="3600" dirty="0">
                <a:latin typeface="Cheddar" panose="020B0604020202020204" charset="0"/>
              </a:rPr>
              <a:t> Maximize detection accuracy by creating a hybrid system that combines Machine Learning probabilities with strict Rule-Based keyword heuristics.</a:t>
            </a:r>
          </a:p>
          <a:p>
            <a:endParaRPr lang="en-US" sz="3600" dirty="0">
              <a:latin typeface="Cheddar" panose="020B0604020202020204" charset="0"/>
            </a:endParaRPr>
          </a:p>
          <a:p>
            <a:r>
              <a:rPr lang="en-US" sz="3600" b="1" dirty="0">
                <a:latin typeface="Cheddar" panose="020B0604020202020204" charset="0"/>
              </a:rPr>
              <a:t>Objective 2:</a:t>
            </a:r>
            <a:r>
              <a:rPr lang="en-US" sz="3600" dirty="0">
                <a:latin typeface="Cheddar" panose="020B0604020202020204" charset="0"/>
              </a:rPr>
              <a:t> Provide "Explainable AI" (XAI). The user must understand exactly </a:t>
            </a:r>
            <a:r>
              <a:rPr lang="en-US" sz="3600" i="1" dirty="0">
                <a:latin typeface="Cheddar" panose="020B0604020202020204" charset="0"/>
              </a:rPr>
              <a:t>why</a:t>
            </a:r>
            <a:r>
              <a:rPr lang="en-US" sz="3600" dirty="0">
                <a:latin typeface="Cheddar" panose="020B0604020202020204" charset="0"/>
              </a:rPr>
              <a:t> a message is flagged, providing a clear Spam Score and highlighting dangerous text.</a:t>
            </a:r>
          </a:p>
          <a:p>
            <a:endParaRPr lang="en-US" sz="3600" dirty="0">
              <a:latin typeface="Cheddar" panose="020B0604020202020204" charset="0"/>
            </a:endParaRPr>
          </a:p>
          <a:p>
            <a:endParaRPr lang="en-US" sz="3600" dirty="0">
              <a:latin typeface="Cheddar" panose="020B0604020202020204" charset="0"/>
            </a:endParaRPr>
          </a:p>
          <a:p>
            <a:endParaRPr lang="en-US" sz="3600" dirty="0">
              <a:latin typeface="Cheddar" panose="020B0604020202020204" charset="0"/>
            </a:endParaRPr>
          </a:p>
          <a:p>
            <a:endParaRPr lang="en-US" sz="3600" dirty="0">
              <a:latin typeface="Cheddar" panose="020B0604020202020204" charset="0"/>
            </a:endParaRPr>
          </a:p>
          <a:p>
            <a:endParaRPr lang="en-US" sz="3600" dirty="0">
              <a:latin typeface="Cheddar" panose="020B0604020202020204" charset="0"/>
            </a:endParaRPr>
          </a:p>
          <a:p>
            <a:endParaRPr lang="en-US" sz="3600" dirty="0">
              <a:latin typeface="Cheddar" panose="020B0604020202020204" charset="0"/>
            </a:endParaRPr>
          </a:p>
          <a:p>
            <a:endParaRPr lang="en-US" sz="3600" dirty="0">
              <a:latin typeface="Cheddar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1000" y="2560915"/>
            <a:ext cx="17297400" cy="4191711"/>
            <a:chOff x="0" y="0"/>
            <a:chExt cx="2912253" cy="8949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12253" cy="894902"/>
            </a:xfrm>
            <a:custGeom>
              <a:avLst/>
              <a:gdLst/>
              <a:ahLst/>
              <a:cxnLst/>
              <a:rect l="l" t="t" r="r" b="b"/>
              <a:pathLst>
                <a:path w="2912253" h="894902">
                  <a:moveTo>
                    <a:pt x="35708" y="0"/>
                  </a:moveTo>
                  <a:lnTo>
                    <a:pt x="2876546" y="0"/>
                  </a:lnTo>
                  <a:cubicBezTo>
                    <a:pt x="2886016" y="0"/>
                    <a:pt x="2895098" y="3762"/>
                    <a:pt x="2901795" y="10459"/>
                  </a:cubicBezTo>
                  <a:cubicBezTo>
                    <a:pt x="2908491" y="17155"/>
                    <a:pt x="2912253" y="26238"/>
                    <a:pt x="2912253" y="35708"/>
                  </a:cubicBezTo>
                  <a:lnTo>
                    <a:pt x="2912253" y="859194"/>
                  </a:lnTo>
                  <a:cubicBezTo>
                    <a:pt x="2912253" y="878915"/>
                    <a:pt x="2896266" y="894902"/>
                    <a:pt x="2876546" y="894902"/>
                  </a:cubicBezTo>
                  <a:lnTo>
                    <a:pt x="35708" y="894902"/>
                  </a:lnTo>
                  <a:cubicBezTo>
                    <a:pt x="15987" y="894902"/>
                    <a:pt x="0" y="878915"/>
                    <a:pt x="0" y="859194"/>
                  </a:cubicBezTo>
                  <a:lnTo>
                    <a:pt x="0" y="35708"/>
                  </a:lnTo>
                  <a:cubicBezTo>
                    <a:pt x="0" y="15987"/>
                    <a:pt x="15987" y="0"/>
                    <a:pt x="35708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912253" cy="9615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715000" y="891484"/>
            <a:ext cx="12432986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6000" dirty="0">
                <a:latin typeface="Cheddar" panose="020B0604020202020204" charset="0"/>
              </a:rPr>
              <a:t>The Problem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3400" y="2628900"/>
            <a:ext cx="17297400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latin typeface="Telegraf Bold" panose="020B0604020202020204" charset="0"/>
              </a:rPr>
              <a:t>The Global Threat:</a:t>
            </a:r>
            <a:r>
              <a:rPr lang="en-US" sz="2800" dirty="0">
                <a:latin typeface="Telegraf Bold" panose="020B0604020202020204" charset="0"/>
              </a:rPr>
              <a:t> Spam accounts for roughly 45% of all global email traffic.</a:t>
            </a:r>
          </a:p>
          <a:p>
            <a:r>
              <a:rPr lang="en-US" sz="2800" b="1" dirty="0">
                <a:latin typeface="Telegraf Bold" panose="020B0604020202020204" charset="0"/>
              </a:rPr>
              <a:t>Security Risks:</a:t>
            </a:r>
            <a:r>
              <a:rPr lang="en-US" sz="2800" dirty="0">
                <a:latin typeface="Telegraf Bold" panose="020B0604020202020204" charset="0"/>
              </a:rPr>
              <a:t> Spam is the primary delivery method for malware, ransomware, and dangerous phishing scams.</a:t>
            </a:r>
          </a:p>
          <a:p>
            <a:endParaRPr lang="en-US" sz="2800" dirty="0">
              <a:latin typeface="Telegraf Bold" panose="020B0604020202020204" charset="0"/>
            </a:endParaRPr>
          </a:p>
          <a:p>
            <a:r>
              <a:rPr lang="en-US" sz="2800" b="1" dirty="0">
                <a:latin typeface="Telegraf Bold" panose="020B0604020202020204" charset="0"/>
              </a:rPr>
              <a:t>The Productivity Drain:</a:t>
            </a:r>
            <a:r>
              <a:rPr lang="en-US" sz="2800" dirty="0">
                <a:latin typeface="Telegraf Bold" panose="020B0604020202020204" charset="0"/>
              </a:rPr>
              <a:t> Businesses and individuals lose massive amounts of time manually filtering and deleting junk emails from real correspondence.</a:t>
            </a:r>
          </a:p>
          <a:p>
            <a:endParaRPr lang="en-US" sz="2800" dirty="0">
              <a:latin typeface="Telegraf Bold" panose="020B0604020202020204" charset="0"/>
            </a:endParaRPr>
          </a:p>
          <a:p>
            <a:r>
              <a:rPr lang="en-US" sz="2800" b="1" dirty="0">
                <a:latin typeface="Telegraf Bold" panose="020B0604020202020204" charset="0"/>
              </a:rPr>
              <a:t>The Shortfall:</a:t>
            </a:r>
            <a:r>
              <a:rPr lang="en-US" sz="2800" dirty="0">
                <a:latin typeface="Telegraf Bold" panose="020B0604020202020204" charset="0"/>
              </a:rPr>
              <a:t> Traditional filters are often "black boxes" that block real emails without explaining why to the user.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2955" y="7064931"/>
            <a:ext cx="17449800" cy="2653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2800" dirty="0">
                <a:latin typeface="Telegraf" panose="020B0604020202020204" charset="0"/>
              </a:rPr>
              <a:t>Spam is a major global issue, making up nearly </a:t>
            </a:r>
            <a:r>
              <a:rPr lang="en-US" sz="2800" b="1" dirty="0">
                <a:latin typeface="Telegraf" panose="020B0604020202020204" charset="0"/>
              </a:rPr>
              <a:t>45% of all email traffic worldwide</a:t>
            </a:r>
            <a:r>
              <a:rPr lang="en-US" sz="2800" dirty="0">
                <a:latin typeface="Telegraf" panose="020B0604020202020204" charset="0"/>
              </a:rPr>
              <a:t>. It poses serious </a:t>
            </a:r>
            <a:r>
              <a:rPr lang="en-US" sz="2800" b="1" dirty="0">
                <a:latin typeface="Telegraf" panose="020B0604020202020204" charset="0"/>
              </a:rPr>
              <a:t>security risks</a:t>
            </a:r>
            <a:r>
              <a:rPr lang="en-US" sz="2800" dirty="0">
                <a:latin typeface="Telegraf" panose="020B0604020202020204" charset="0"/>
              </a:rPr>
              <a:t>, as many spam emails are used to distribute </a:t>
            </a:r>
            <a:r>
              <a:rPr lang="en-US" sz="2800" b="1" dirty="0">
                <a:latin typeface="Telegraf" panose="020B0604020202020204" charset="0"/>
              </a:rPr>
              <a:t>malware, ransomware, and phishing scams</a:t>
            </a:r>
            <a:r>
              <a:rPr lang="en-US" sz="2800" dirty="0">
                <a:latin typeface="Telegraf" panose="020B0604020202020204" charset="0"/>
              </a:rPr>
              <a:t>. Additionally, spam creates a </a:t>
            </a:r>
            <a:r>
              <a:rPr lang="en-US" sz="2800" b="1" dirty="0">
                <a:latin typeface="Telegraf" panose="020B0604020202020204" charset="0"/>
              </a:rPr>
              <a:t>productivity problem</a:t>
            </a:r>
            <a:r>
              <a:rPr lang="en-US" sz="2800" dirty="0">
                <a:latin typeface="Telegraf" panose="020B0604020202020204" charset="0"/>
              </a:rPr>
              <a:t>, forcing individuals and businesses to spend valuable time sorting through unwanted messages. Traditional spam filters also have a </a:t>
            </a:r>
            <a:r>
              <a:rPr lang="en-US" sz="2800" b="1" dirty="0">
                <a:latin typeface="Telegraf" panose="020B0604020202020204" charset="0"/>
              </a:rPr>
              <a:t>transparency problem</a:t>
            </a:r>
            <a:r>
              <a:rPr lang="en-US" sz="2800" dirty="0">
                <a:latin typeface="Telegraf" panose="020B0604020202020204" charset="0"/>
              </a:rPr>
              <a:t>, often acting as </a:t>
            </a:r>
            <a:r>
              <a:rPr lang="en-US" sz="2800" b="1" dirty="0">
                <a:latin typeface="Telegraf" panose="020B0604020202020204" charset="0"/>
              </a:rPr>
              <a:t>“black boxes”</a:t>
            </a:r>
            <a:r>
              <a:rPr lang="en-US" sz="2800" dirty="0">
                <a:latin typeface="Telegraf" panose="020B0604020202020204" charset="0"/>
              </a:rPr>
              <a:t> that block legitimate emails without explaining the reason to the user.</a:t>
            </a:r>
            <a:endParaRPr lang="en-US" sz="2800" spc="171" dirty="0">
              <a:solidFill>
                <a:srgbClr val="290606"/>
              </a:solidFill>
              <a:latin typeface="Telegraf" panose="020B0604020202020204" charset="0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" y="952500"/>
            <a:ext cx="8115300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System</a:t>
            </a:r>
          </a:p>
          <a:p>
            <a:pPr algn="l">
              <a:lnSpc>
                <a:spcPts val="6999"/>
              </a:lnSpc>
            </a:pPr>
            <a:r>
              <a:rPr lang="en-US" sz="6999" spc="342" dirty="0" err="1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ArchItecture</a:t>
            </a:r>
            <a:endParaRPr lang="en-US" sz="6999" spc="342" dirty="0">
              <a:solidFill>
                <a:srgbClr val="290606"/>
              </a:solidFill>
              <a:latin typeface="Cheddar"/>
              <a:ea typeface="Cheddar"/>
              <a:cs typeface="Cheddar"/>
              <a:sym typeface="Cheddar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09600" y="3086100"/>
            <a:ext cx="10396810" cy="6894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b="1" dirty="0">
                <a:latin typeface="Telegraf" panose="020B0604020202020204" charset="0"/>
              </a:rPr>
              <a:t>The Engine:</a:t>
            </a:r>
            <a:r>
              <a:rPr lang="en-US" sz="3200" dirty="0">
                <a:latin typeface="Telegraf" panose="020B0604020202020204" charset="0"/>
              </a:rPr>
              <a:t> Python, Scikit-Learn, and Pandas processing the data.</a:t>
            </a:r>
          </a:p>
          <a:p>
            <a:endParaRPr lang="en-US" sz="3200" dirty="0">
              <a:latin typeface="Telegraf" panose="020B0604020202020204" charset="0"/>
            </a:endParaRPr>
          </a:p>
          <a:p>
            <a:r>
              <a:rPr lang="en-US" sz="3200" b="1" dirty="0">
                <a:latin typeface="Telegraf" panose="020B0604020202020204" charset="0"/>
              </a:rPr>
              <a:t>Text Processing (NLP):</a:t>
            </a:r>
            <a:r>
              <a:rPr lang="en-US" sz="3200" dirty="0">
                <a:latin typeface="Telegraf" panose="020B0604020202020204" charset="0"/>
              </a:rPr>
              <a:t> Raw email text is cleaned, stop-words are removed, and the data is vectorized using TF-IDF (Term Frequency-Inverse Document Frequency).</a:t>
            </a:r>
          </a:p>
          <a:p>
            <a:endParaRPr lang="en-US" sz="3200" dirty="0">
              <a:latin typeface="Telegraf" panose="020B0604020202020204" charset="0"/>
            </a:endParaRPr>
          </a:p>
          <a:p>
            <a:r>
              <a:rPr lang="en-US" sz="3200" b="1" dirty="0">
                <a:latin typeface="Telegraf" panose="020B0604020202020204" charset="0"/>
              </a:rPr>
              <a:t>The Predictor:</a:t>
            </a:r>
            <a:r>
              <a:rPr lang="en-US" sz="3200" dirty="0">
                <a:latin typeface="Telegraf" panose="020B0604020202020204" charset="0"/>
              </a:rPr>
              <a:t> A Logistic Regression model calculates the final probability of an email being spam based on historical data.</a:t>
            </a:r>
          </a:p>
          <a:p>
            <a:endParaRPr lang="en-US" sz="3200" dirty="0">
              <a:latin typeface="Telegraf" panose="020B0604020202020204" charset="0"/>
            </a:endParaRPr>
          </a:p>
          <a:p>
            <a:r>
              <a:rPr lang="en-US" sz="3200" b="1" dirty="0">
                <a:latin typeface="Telegraf" panose="020B0604020202020204" charset="0"/>
              </a:rPr>
              <a:t>The UI Structure:</a:t>
            </a:r>
            <a:r>
              <a:rPr lang="en-US" sz="3200" dirty="0">
                <a:latin typeface="Telegraf" panose="020B0604020202020204" charset="0"/>
              </a:rPr>
              <a:t> Built on </a:t>
            </a:r>
            <a:r>
              <a:rPr lang="en-US" sz="3200" dirty="0" err="1">
                <a:latin typeface="Telegraf" panose="020B0604020202020204" charset="0"/>
              </a:rPr>
              <a:t>Streamlit</a:t>
            </a:r>
            <a:r>
              <a:rPr lang="en-US" sz="3200" dirty="0">
                <a:latin typeface="Telegraf" panose="020B0604020202020204" charset="0"/>
              </a:rPr>
              <a:t> with custom CSS and </a:t>
            </a:r>
            <a:r>
              <a:rPr lang="en-US" sz="3200" dirty="0" err="1">
                <a:latin typeface="Telegraf" panose="020B0604020202020204" charset="0"/>
              </a:rPr>
              <a:t>PyInstaller</a:t>
            </a:r>
            <a:r>
              <a:rPr lang="en-US" sz="3200" dirty="0">
                <a:latin typeface="Telegraf" panose="020B0604020202020204" charset="0"/>
              </a:rPr>
              <a:t> for portable execution.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078DED3-AEA9-4642-7B4D-05B7A9F86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5" y="-1"/>
            <a:ext cx="18184737" cy="102870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4716" y="2456402"/>
            <a:ext cx="9387484" cy="1304791"/>
            <a:chOff x="0" y="0"/>
            <a:chExt cx="2472424" cy="3436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22982" y="0"/>
              <a:ext cx="2449442" cy="343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r>
                <a:rPr lang="en-US" sz="2000" b="1" dirty="0">
                  <a:latin typeface="Telegraf Bold" panose="020B0604020202020204" charset="0"/>
                </a:rPr>
                <a:t>Machine Learning Model:</a:t>
              </a:r>
              <a:r>
                <a:rPr lang="en-US" sz="2000" dirty="0">
                  <a:latin typeface="Telegraf Bold" panose="020B0604020202020204" charset="0"/>
                </a:rPr>
                <a:t> Learns complex patterns. If a scammer uses brand new wording the model has never seen before, its probability algorithms can still detect the context.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94716" y="4397946"/>
            <a:ext cx="9387484" cy="1304623"/>
            <a:chOff x="0" y="-40494"/>
            <a:chExt cx="2472424" cy="343648"/>
          </a:xfrm>
        </p:grpSpPr>
        <p:sp>
          <p:nvSpPr>
            <p:cNvPr id="6" name="Freeform 6"/>
            <p:cNvSpPr/>
            <p:nvPr/>
          </p:nvSpPr>
          <p:spPr>
            <a:xfrm>
              <a:off x="0" y="-40494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33034" y="13761"/>
              <a:ext cx="2307951" cy="214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r>
                <a:rPr lang="en-US" sz="2000" dirty="0">
                  <a:latin typeface="Telegraf Bold" panose="020B0604020202020204" charset="0"/>
                </a:rPr>
                <a:t>Machine Learning model acts as the </a:t>
              </a:r>
              <a:r>
                <a:rPr lang="en-US" sz="2000" i="1" dirty="0">
                  <a:latin typeface="Telegraf Bold" panose="020B0604020202020204" charset="0"/>
                </a:rPr>
                <a:t>adaptable second layer</a:t>
              </a:r>
              <a:r>
                <a:rPr lang="en-US" sz="2000" dirty="0">
                  <a:latin typeface="Telegraf Bold" panose="020B0604020202020204" charset="0"/>
                </a:rPr>
                <a:t>, intelligently analyzing context to catch subtle, sophisticated, never-before-seen spam that traditional filters would miss.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59382" y="6130684"/>
            <a:ext cx="9458151" cy="1738773"/>
            <a:chOff x="0" y="-57150"/>
            <a:chExt cx="2491036" cy="4579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8612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r>
                <a:rPr lang="en-US" sz="2000" b="1" dirty="0">
                  <a:latin typeface="Telegraf Bold" panose="020B0604020202020204" charset="0"/>
                </a:rPr>
                <a:t>Rule-Based Engine:</a:t>
              </a:r>
              <a:r>
                <a:rPr lang="en-US" sz="2000" dirty="0">
                  <a:latin typeface="Telegraf Bold" panose="020B0604020202020204" charset="0"/>
                </a:rPr>
                <a:t> We use strict </a:t>
              </a:r>
              <a:r>
                <a:rPr lang="en-US" sz="2000" dirty="0" err="1">
                  <a:latin typeface="Telegraf Bold" panose="020B0604020202020204" charset="0"/>
                </a:rPr>
                <a:t>RegEx</a:t>
              </a:r>
              <a:r>
                <a:rPr lang="en-US" sz="2000" dirty="0">
                  <a:latin typeface="Telegraf Bold" panose="020B0604020202020204" charset="0"/>
                </a:rPr>
                <a:t> (Regular Expressions) to hunt for guaranteed red flags (e.g., "urgent click here", "free money").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1019175"/>
            <a:ext cx="8115300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The </a:t>
            </a:r>
            <a:r>
              <a:rPr lang="en-US" sz="6999" spc="342" dirty="0" err="1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HybrId</a:t>
            </a: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 </a:t>
            </a:r>
            <a:r>
              <a:rPr lang="en-US" sz="6999" spc="342" dirty="0" err="1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ApproACH</a:t>
            </a:r>
            <a:endParaRPr lang="en-US" sz="6999" spc="342" dirty="0">
              <a:solidFill>
                <a:srgbClr val="290606"/>
              </a:solidFill>
              <a:latin typeface="Cheddar"/>
              <a:ea typeface="Cheddar"/>
              <a:cs typeface="Cheddar"/>
              <a:sym typeface="Cheddar"/>
            </a:endParaRPr>
          </a:p>
        </p:txBody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6F915ADF-6A42-D628-3AA5-901F0107E6CD}"/>
              </a:ext>
            </a:extLst>
          </p:cNvPr>
          <p:cNvGrpSpPr/>
          <p:nvPr/>
        </p:nvGrpSpPr>
        <p:grpSpPr>
          <a:xfrm>
            <a:off x="594716" y="8086449"/>
            <a:ext cx="9387484" cy="1738773"/>
            <a:chOff x="0" y="-57170"/>
            <a:chExt cx="2472424" cy="457948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95A65A09-A53F-C369-25C4-499B47A6ADCE}"/>
                </a:ext>
              </a:extLst>
            </p:cNvPr>
            <p:cNvSpPr/>
            <p:nvPr/>
          </p:nvSpPr>
          <p:spPr>
            <a:xfrm>
              <a:off x="0" y="-2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F5D1F2A9-9896-F4E4-6BB9-F2A7DE25E1C4}"/>
                </a:ext>
              </a:extLst>
            </p:cNvPr>
            <p:cNvSpPr txBox="1"/>
            <p:nvPr/>
          </p:nvSpPr>
          <p:spPr>
            <a:xfrm>
              <a:off x="41118" y="-57170"/>
              <a:ext cx="2390188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r>
                <a:rPr lang="en-US" sz="2000" b="1" dirty="0">
                  <a:latin typeface="Telegraf Bold" panose="020B0604020202020204" charset="0"/>
                </a:rPr>
                <a:t>The Result:</a:t>
              </a:r>
              <a:r>
                <a:rPr lang="en-US" sz="2000" dirty="0">
                  <a:latin typeface="Telegraf Bold" panose="020B0604020202020204" charset="0"/>
                </a:rPr>
                <a:t> The Rule Engine catches the obvious scams with 100% certainty, while the ML model catches the sophisticated, hidden attacks.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68F3D1B3-05E1-D865-8B9A-2924D42EB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0"/>
            <a:ext cx="7433187" cy="1019258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9CD75C7-3C33-CA04-3C07-ADE57B8DA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812" y="2161759"/>
            <a:ext cx="4296375" cy="596348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E01163F-D3FF-5EE6-4819-312D2014C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310884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8686800" y="495300"/>
            <a:ext cx="3029224" cy="35231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00"/>
              </a:lnSpc>
            </a:pPr>
            <a:endParaRPr lang="en-US" sz="3200" b="1" dirty="0">
              <a:solidFill>
                <a:srgbClr val="000000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28700" y="1019175"/>
            <a:ext cx="8115300" cy="101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6600" dirty="0">
                <a:latin typeface="Cheddar" panose="020B0604020202020204" charset="0"/>
              </a:rPr>
              <a:t>Key Features &amp; Demo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10A4E1-24C4-C829-29F3-DEB04AA20E27}"/>
              </a:ext>
            </a:extLst>
          </p:cNvPr>
          <p:cNvSpPr txBox="1"/>
          <p:nvPr/>
        </p:nvSpPr>
        <p:spPr>
          <a:xfrm>
            <a:off x="1006577" y="2676465"/>
            <a:ext cx="8115300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b="1" dirty="0">
                <a:latin typeface="Telegraf Bold" panose="020B0604020202020204" charset="0"/>
              </a:rPr>
              <a:t>Real-time Prediction:</a:t>
            </a:r>
            <a:r>
              <a:rPr lang="en-US" sz="2800" dirty="0">
                <a:latin typeface="Telegraf Bold" panose="020B0604020202020204" charset="0"/>
              </a:rPr>
              <a:t> </a:t>
            </a:r>
            <a:r>
              <a:rPr lang="en-US" sz="2800" dirty="0">
                <a:latin typeface="Telegraf" panose="020B0604020202020204" charset="0"/>
              </a:rPr>
              <a:t>Instant analysis of email text simply by pasting or uploading a file.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BD5DDBA4-8AFB-8ADC-ED13-23480AFC9FDB}"/>
              </a:ext>
            </a:extLst>
          </p:cNvPr>
          <p:cNvSpPr txBox="1"/>
          <p:nvPr/>
        </p:nvSpPr>
        <p:spPr>
          <a:xfrm>
            <a:off x="1028700" y="4126794"/>
            <a:ext cx="8115300" cy="129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b="1" dirty="0">
                <a:latin typeface="Telegraf Bold" panose="020B0604020202020204" charset="0"/>
              </a:rPr>
              <a:t>Interactive Spam Meter: </a:t>
            </a:r>
            <a:r>
              <a:rPr lang="en-US" sz="2800" b="1" dirty="0">
                <a:latin typeface="Telegraf" panose="020B0604020202020204" charset="0"/>
              </a:rPr>
              <a:t>A dynamic, color-coded visual gradient bar mapping out the exact probability percentage.</a:t>
            </a: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146826B2-4CD3-FDA1-0C32-FD5E4EDCE09E}"/>
              </a:ext>
            </a:extLst>
          </p:cNvPr>
          <p:cNvSpPr txBox="1"/>
          <p:nvPr/>
        </p:nvSpPr>
        <p:spPr>
          <a:xfrm>
            <a:off x="1028700" y="5734792"/>
            <a:ext cx="8115300" cy="1723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b="1" dirty="0">
                <a:latin typeface="Telegraf Bold" panose="020B0604020202020204" charset="0"/>
              </a:rPr>
              <a:t>Keyword Highlighting:</a:t>
            </a:r>
            <a:r>
              <a:rPr lang="en-US" sz="2800" dirty="0">
                <a:latin typeface="Telegraf Bold" panose="020B0604020202020204" charset="0"/>
              </a:rPr>
              <a:t> </a:t>
            </a:r>
            <a:r>
              <a:rPr lang="en-US" sz="2800" dirty="0">
                <a:latin typeface="Telegraf" panose="020B0604020202020204" charset="0"/>
              </a:rPr>
              <a:t>The UI actively highlights the exact dangerous keywords it detected, proving transparent AI decision-making.</a:t>
            </a:r>
          </a:p>
        </p:txBody>
      </p:sp>
      <p:sp>
        <p:nvSpPr>
          <p:cNvPr id="24" name="TextBox 20">
            <a:extLst>
              <a:ext uri="{FF2B5EF4-FFF2-40B4-BE49-F238E27FC236}">
                <a16:creationId xmlns:a16="http://schemas.microsoft.com/office/drawing/2014/main" id="{9D2E7BFE-BE57-2EDE-EA0C-9FDDA7EC2538}"/>
              </a:ext>
            </a:extLst>
          </p:cNvPr>
          <p:cNvSpPr txBox="1"/>
          <p:nvPr/>
        </p:nvSpPr>
        <p:spPr>
          <a:xfrm>
            <a:off x="1006577" y="7773677"/>
            <a:ext cx="8115300" cy="1723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b="1" dirty="0">
                <a:latin typeface="Telegraf Bold" panose="020B0604020202020204" charset="0"/>
              </a:rPr>
              <a:t>Keyword Highlighting:</a:t>
            </a:r>
            <a:r>
              <a:rPr lang="en-US" sz="2800" dirty="0">
                <a:latin typeface="Telegraf Bold" panose="020B0604020202020204" charset="0"/>
              </a:rPr>
              <a:t> </a:t>
            </a:r>
            <a:r>
              <a:rPr lang="en-US" sz="2800" dirty="0">
                <a:latin typeface="Telegraf" panose="020B0604020202020204" charset="0"/>
              </a:rPr>
              <a:t>The UI actively highlights the exact dangerous keywords it detected, proving transparent AI decision-making.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49FBA7F-B45C-3BE8-33CB-35EC26256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3977" y="2913083"/>
            <a:ext cx="6096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ED452-4473-60B7-BFCD-4C9568DFF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A4ADDD-ED90-D7B2-A242-4B7F9C06D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419100"/>
            <a:ext cx="11049000" cy="5486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33FFE3-60BB-6F46-E181-957780090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6671488"/>
            <a:ext cx="12224393" cy="319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905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19175"/>
            <a:ext cx="8115300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 err="1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Applictaions</a:t>
            </a: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 of</a:t>
            </a:r>
            <a:b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</a:b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mail Guard AI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41813" y="3119618"/>
            <a:ext cx="9617487" cy="6940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b="1" dirty="0">
                <a:latin typeface="Telegraf" panose="020B0604020202020204" charset="0"/>
              </a:rPr>
              <a:t>Corporate Mail Servers:</a:t>
            </a:r>
            <a:r>
              <a:rPr lang="en-US" sz="3200" dirty="0">
                <a:latin typeface="Telegraf" panose="020B0604020202020204" charset="0"/>
              </a:rPr>
              <a:t> Can be integrated as software middleware to automatically filter and organize incoming traffic before it reaches employee inboxes.</a:t>
            </a:r>
          </a:p>
          <a:p>
            <a:pPr algn="l">
              <a:lnSpc>
                <a:spcPts val="4200"/>
              </a:lnSpc>
            </a:pPr>
            <a:endParaRPr lang="en-US" sz="4800" spc="171" dirty="0">
              <a:solidFill>
                <a:srgbClr val="290606"/>
              </a:solidFill>
              <a:latin typeface="Telegraf" panose="020B0604020202020204" charset="0"/>
              <a:ea typeface="Telegraf"/>
              <a:cs typeface="Telegraf"/>
              <a:sym typeface="Telegraf"/>
            </a:endParaRPr>
          </a:p>
          <a:p>
            <a:r>
              <a:rPr lang="en-US" sz="3200" b="1" dirty="0">
                <a:latin typeface="Telegraf" panose="020B0604020202020204" charset="0"/>
              </a:rPr>
              <a:t>Enterprise Security Auditing:</a:t>
            </a:r>
            <a:r>
              <a:rPr lang="en-US" sz="3200" dirty="0">
                <a:latin typeface="Telegraf" panose="020B0604020202020204" charset="0"/>
              </a:rPr>
              <a:t> Security teams can paste suspicious texts into the CLI or Dashboard to safely verify threats.</a:t>
            </a:r>
            <a:br>
              <a:rPr lang="en-US" sz="3200" dirty="0">
                <a:latin typeface="Telegraf" panose="020B0604020202020204" charset="0"/>
              </a:rPr>
            </a:br>
            <a:br>
              <a:rPr lang="en-US" sz="3200" dirty="0">
                <a:latin typeface="Telegraf" panose="020B0604020202020204" charset="0"/>
              </a:rPr>
            </a:br>
            <a:r>
              <a:rPr lang="en-US" sz="3200" b="1" dirty="0">
                <a:latin typeface="Telegraf" panose="020B0604020202020204" charset="0"/>
              </a:rPr>
              <a:t>Personal Defense Utility:</a:t>
            </a:r>
            <a:r>
              <a:rPr lang="en-US" sz="3200" dirty="0">
                <a:latin typeface="Telegraf" panose="020B0604020202020204" charset="0"/>
              </a:rPr>
              <a:t> Can be distributed as a standalone desktop application (.exe) to help everyday individuals verify suspicious SMS messages, promotional emails, or alerts.</a:t>
            </a:r>
          </a:p>
          <a:p>
            <a:endParaRPr lang="en-US" sz="3200" dirty="0">
              <a:latin typeface="Telegraf" panose="020B060402020202020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6D329B-B6EC-CA91-F118-1EB5B0AD4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8288001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19175"/>
            <a:ext cx="8115300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 err="1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Conlusion</a:t>
            </a: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 &amp;</a:t>
            </a:r>
            <a:b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</a:b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future scope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820991" y="3597243"/>
            <a:ext cx="4561929" cy="5298426"/>
            <a:chOff x="0" y="0"/>
            <a:chExt cx="1235036" cy="14344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35036" cy="1434426"/>
            </a:xfrm>
            <a:custGeom>
              <a:avLst/>
              <a:gdLst/>
              <a:ahLst/>
              <a:cxnLst/>
              <a:rect l="l" t="t" r="r" b="b"/>
              <a:pathLst>
                <a:path w="1235036" h="1434426">
                  <a:moveTo>
                    <a:pt x="86551" y="0"/>
                  </a:moveTo>
                  <a:lnTo>
                    <a:pt x="1148486" y="0"/>
                  </a:lnTo>
                  <a:cubicBezTo>
                    <a:pt x="1196286" y="0"/>
                    <a:pt x="1235036" y="38750"/>
                    <a:pt x="1235036" y="86551"/>
                  </a:cubicBezTo>
                  <a:lnTo>
                    <a:pt x="1235036" y="1347875"/>
                  </a:lnTo>
                  <a:cubicBezTo>
                    <a:pt x="1235036" y="1395676"/>
                    <a:pt x="1196286" y="1434426"/>
                    <a:pt x="1148486" y="1434426"/>
                  </a:cubicBezTo>
                  <a:lnTo>
                    <a:pt x="86551" y="1434426"/>
                  </a:lnTo>
                  <a:cubicBezTo>
                    <a:pt x="63596" y="1434426"/>
                    <a:pt x="41581" y="1425307"/>
                    <a:pt x="25350" y="1409076"/>
                  </a:cubicBezTo>
                  <a:cubicBezTo>
                    <a:pt x="9119" y="1392844"/>
                    <a:pt x="0" y="1370830"/>
                    <a:pt x="0" y="1347875"/>
                  </a:cubicBezTo>
                  <a:lnTo>
                    <a:pt x="0" y="86551"/>
                  </a:lnTo>
                  <a:cubicBezTo>
                    <a:pt x="0" y="63596"/>
                    <a:pt x="9119" y="41581"/>
                    <a:pt x="25350" y="25350"/>
                  </a:cubicBezTo>
                  <a:cubicBezTo>
                    <a:pt x="41581" y="9119"/>
                    <a:pt x="63596" y="0"/>
                    <a:pt x="86551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1235036" cy="1424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06017" y="3597243"/>
            <a:ext cx="4561929" cy="5298426"/>
            <a:chOff x="0" y="0"/>
            <a:chExt cx="1235036" cy="14344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35036" cy="1434426"/>
            </a:xfrm>
            <a:custGeom>
              <a:avLst/>
              <a:gdLst/>
              <a:ahLst/>
              <a:cxnLst/>
              <a:rect l="l" t="t" r="r" b="b"/>
              <a:pathLst>
                <a:path w="1235036" h="1434426">
                  <a:moveTo>
                    <a:pt x="86551" y="0"/>
                  </a:moveTo>
                  <a:lnTo>
                    <a:pt x="1148486" y="0"/>
                  </a:lnTo>
                  <a:cubicBezTo>
                    <a:pt x="1196286" y="0"/>
                    <a:pt x="1235036" y="38750"/>
                    <a:pt x="1235036" y="86551"/>
                  </a:cubicBezTo>
                  <a:lnTo>
                    <a:pt x="1235036" y="1347875"/>
                  </a:lnTo>
                  <a:cubicBezTo>
                    <a:pt x="1235036" y="1395676"/>
                    <a:pt x="1196286" y="1434426"/>
                    <a:pt x="1148486" y="1434426"/>
                  </a:cubicBezTo>
                  <a:lnTo>
                    <a:pt x="86551" y="1434426"/>
                  </a:lnTo>
                  <a:cubicBezTo>
                    <a:pt x="63596" y="1434426"/>
                    <a:pt x="41581" y="1425307"/>
                    <a:pt x="25350" y="1409076"/>
                  </a:cubicBezTo>
                  <a:cubicBezTo>
                    <a:pt x="9119" y="1392844"/>
                    <a:pt x="0" y="1370830"/>
                    <a:pt x="0" y="1347875"/>
                  </a:cubicBezTo>
                  <a:lnTo>
                    <a:pt x="0" y="86551"/>
                  </a:lnTo>
                  <a:cubicBezTo>
                    <a:pt x="0" y="63596"/>
                    <a:pt x="9119" y="41581"/>
                    <a:pt x="25350" y="25350"/>
                  </a:cubicBezTo>
                  <a:cubicBezTo>
                    <a:pt x="41581" y="9119"/>
                    <a:pt x="63596" y="0"/>
                    <a:pt x="86551" y="0"/>
                  </a:cubicBezTo>
                  <a:close/>
                </a:path>
              </a:pathLst>
            </a:custGeom>
            <a:solidFill>
              <a:srgbClr val="F7562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1235036" cy="1424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794040" y="3597243"/>
            <a:ext cx="4561929" cy="5298426"/>
            <a:chOff x="0" y="0"/>
            <a:chExt cx="1235036" cy="14344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5036" cy="1434426"/>
            </a:xfrm>
            <a:custGeom>
              <a:avLst/>
              <a:gdLst/>
              <a:ahLst/>
              <a:cxnLst/>
              <a:rect l="l" t="t" r="r" b="b"/>
              <a:pathLst>
                <a:path w="1235036" h="1434426">
                  <a:moveTo>
                    <a:pt x="86551" y="0"/>
                  </a:moveTo>
                  <a:lnTo>
                    <a:pt x="1148486" y="0"/>
                  </a:lnTo>
                  <a:cubicBezTo>
                    <a:pt x="1196286" y="0"/>
                    <a:pt x="1235036" y="38750"/>
                    <a:pt x="1235036" y="86551"/>
                  </a:cubicBezTo>
                  <a:lnTo>
                    <a:pt x="1235036" y="1347875"/>
                  </a:lnTo>
                  <a:cubicBezTo>
                    <a:pt x="1235036" y="1395676"/>
                    <a:pt x="1196286" y="1434426"/>
                    <a:pt x="1148486" y="1434426"/>
                  </a:cubicBezTo>
                  <a:lnTo>
                    <a:pt x="86551" y="1434426"/>
                  </a:lnTo>
                  <a:cubicBezTo>
                    <a:pt x="63596" y="1434426"/>
                    <a:pt x="41581" y="1425307"/>
                    <a:pt x="25350" y="1409076"/>
                  </a:cubicBezTo>
                  <a:cubicBezTo>
                    <a:pt x="9119" y="1392844"/>
                    <a:pt x="0" y="1370830"/>
                    <a:pt x="0" y="1347875"/>
                  </a:cubicBezTo>
                  <a:lnTo>
                    <a:pt x="0" y="86551"/>
                  </a:lnTo>
                  <a:cubicBezTo>
                    <a:pt x="0" y="63596"/>
                    <a:pt x="9119" y="41581"/>
                    <a:pt x="25350" y="25350"/>
                  </a:cubicBezTo>
                  <a:cubicBezTo>
                    <a:pt x="41581" y="9119"/>
                    <a:pt x="63596" y="0"/>
                    <a:pt x="86551" y="0"/>
                  </a:cubicBezTo>
                  <a:close/>
                </a:path>
              </a:pathLst>
            </a:custGeom>
            <a:solidFill>
              <a:srgbClr val="FEC80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1235036" cy="1424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932030" y="3701989"/>
            <a:ext cx="4561929" cy="5298426"/>
            <a:chOff x="0" y="0"/>
            <a:chExt cx="1235036" cy="143442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35036" cy="1434426"/>
            </a:xfrm>
            <a:custGeom>
              <a:avLst/>
              <a:gdLst/>
              <a:ahLst/>
              <a:cxnLst/>
              <a:rect l="l" t="t" r="r" b="b"/>
              <a:pathLst>
                <a:path w="1235036" h="1434426">
                  <a:moveTo>
                    <a:pt x="86551" y="0"/>
                  </a:moveTo>
                  <a:lnTo>
                    <a:pt x="1148486" y="0"/>
                  </a:lnTo>
                  <a:cubicBezTo>
                    <a:pt x="1196286" y="0"/>
                    <a:pt x="1235036" y="38750"/>
                    <a:pt x="1235036" y="86551"/>
                  </a:cubicBezTo>
                  <a:lnTo>
                    <a:pt x="1235036" y="1347875"/>
                  </a:lnTo>
                  <a:cubicBezTo>
                    <a:pt x="1235036" y="1395676"/>
                    <a:pt x="1196286" y="1434426"/>
                    <a:pt x="1148486" y="1434426"/>
                  </a:cubicBezTo>
                  <a:lnTo>
                    <a:pt x="86551" y="1434426"/>
                  </a:lnTo>
                  <a:cubicBezTo>
                    <a:pt x="63596" y="1434426"/>
                    <a:pt x="41581" y="1425307"/>
                    <a:pt x="25350" y="1409076"/>
                  </a:cubicBezTo>
                  <a:cubicBezTo>
                    <a:pt x="9119" y="1392844"/>
                    <a:pt x="0" y="1370830"/>
                    <a:pt x="0" y="1347875"/>
                  </a:cubicBezTo>
                  <a:lnTo>
                    <a:pt x="0" y="86551"/>
                  </a:lnTo>
                  <a:cubicBezTo>
                    <a:pt x="0" y="63596"/>
                    <a:pt x="9119" y="41581"/>
                    <a:pt x="25350" y="25350"/>
                  </a:cubicBezTo>
                  <a:cubicBezTo>
                    <a:pt x="41581" y="9119"/>
                    <a:pt x="63596" y="0"/>
                    <a:pt x="865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1235036" cy="1424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111974" y="4056515"/>
            <a:ext cx="4160643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IN" sz="4000" b="1" dirty="0">
                <a:latin typeface="Cheddar" panose="020B0604020202020204" charset="0"/>
              </a:rPr>
              <a:t>Conclusion</a:t>
            </a:r>
            <a:r>
              <a:rPr lang="en-IN" sz="4400" b="1" dirty="0">
                <a:latin typeface="Cheddar" panose="020B0604020202020204" charset="0"/>
              </a:rPr>
              <a:t>:</a:t>
            </a:r>
            <a:endParaRPr lang="en-US" sz="7200" dirty="0">
              <a:solidFill>
                <a:srgbClr val="290606"/>
              </a:solidFill>
              <a:latin typeface="Cheddar" panose="020B0604020202020204" charset="0"/>
              <a:ea typeface="Cheddar"/>
              <a:cs typeface="Cheddar"/>
              <a:sym typeface="Cheddar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6917056" y="3701989"/>
            <a:ext cx="4561929" cy="5298426"/>
            <a:chOff x="0" y="0"/>
            <a:chExt cx="1235036" cy="143442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35036" cy="1434426"/>
            </a:xfrm>
            <a:custGeom>
              <a:avLst/>
              <a:gdLst/>
              <a:ahLst/>
              <a:cxnLst/>
              <a:rect l="l" t="t" r="r" b="b"/>
              <a:pathLst>
                <a:path w="1235036" h="1434426">
                  <a:moveTo>
                    <a:pt x="86551" y="0"/>
                  </a:moveTo>
                  <a:lnTo>
                    <a:pt x="1148486" y="0"/>
                  </a:lnTo>
                  <a:cubicBezTo>
                    <a:pt x="1196286" y="0"/>
                    <a:pt x="1235036" y="38750"/>
                    <a:pt x="1235036" y="86551"/>
                  </a:cubicBezTo>
                  <a:lnTo>
                    <a:pt x="1235036" y="1347875"/>
                  </a:lnTo>
                  <a:cubicBezTo>
                    <a:pt x="1235036" y="1395676"/>
                    <a:pt x="1196286" y="1434426"/>
                    <a:pt x="1148486" y="1434426"/>
                  </a:cubicBezTo>
                  <a:lnTo>
                    <a:pt x="86551" y="1434426"/>
                  </a:lnTo>
                  <a:cubicBezTo>
                    <a:pt x="63596" y="1434426"/>
                    <a:pt x="41581" y="1425307"/>
                    <a:pt x="25350" y="1409076"/>
                  </a:cubicBezTo>
                  <a:cubicBezTo>
                    <a:pt x="9119" y="1392844"/>
                    <a:pt x="0" y="1370830"/>
                    <a:pt x="0" y="1347875"/>
                  </a:cubicBezTo>
                  <a:lnTo>
                    <a:pt x="0" y="86551"/>
                  </a:lnTo>
                  <a:cubicBezTo>
                    <a:pt x="0" y="63596"/>
                    <a:pt x="9119" y="41581"/>
                    <a:pt x="25350" y="25350"/>
                  </a:cubicBezTo>
                  <a:cubicBezTo>
                    <a:pt x="41581" y="9119"/>
                    <a:pt x="63596" y="0"/>
                    <a:pt x="865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1235036" cy="1424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117699" y="4056515"/>
            <a:ext cx="4160643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IN" sz="4000" b="1" dirty="0">
                <a:latin typeface="Cheddar" panose="020B0604020202020204" charset="0"/>
              </a:rPr>
              <a:t>Future Scope:</a:t>
            </a:r>
            <a:endParaRPr lang="en-US" sz="6600" dirty="0">
              <a:solidFill>
                <a:srgbClr val="290606"/>
              </a:solidFill>
              <a:latin typeface="Cheddar" panose="020B0604020202020204" charset="0"/>
              <a:ea typeface="Cheddar"/>
              <a:cs typeface="Cheddar"/>
              <a:sym typeface="Cheddar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1905080" y="3701989"/>
            <a:ext cx="4561929" cy="5298426"/>
            <a:chOff x="0" y="0"/>
            <a:chExt cx="1235036" cy="143442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35036" cy="1434426"/>
            </a:xfrm>
            <a:custGeom>
              <a:avLst/>
              <a:gdLst/>
              <a:ahLst/>
              <a:cxnLst/>
              <a:rect l="l" t="t" r="r" b="b"/>
              <a:pathLst>
                <a:path w="1235036" h="1434426">
                  <a:moveTo>
                    <a:pt x="86551" y="0"/>
                  </a:moveTo>
                  <a:lnTo>
                    <a:pt x="1148486" y="0"/>
                  </a:lnTo>
                  <a:cubicBezTo>
                    <a:pt x="1196286" y="0"/>
                    <a:pt x="1235036" y="38750"/>
                    <a:pt x="1235036" y="86551"/>
                  </a:cubicBezTo>
                  <a:lnTo>
                    <a:pt x="1235036" y="1347875"/>
                  </a:lnTo>
                  <a:cubicBezTo>
                    <a:pt x="1235036" y="1395676"/>
                    <a:pt x="1196286" y="1434426"/>
                    <a:pt x="1148486" y="1434426"/>
                  </a:cubicBezTo>
                  <a:lnTo>
                    <a:pt x="86551" y="1434426"/>
                  </a:lnTo>
                  <a:cubicBezTo>
                    <a:pt x="63596" y="1434426"/>
                    <a:pt x="41581" y="1425307"/>
                    <a:pt x="25350" y="1409076"/>
                  </a:cubicBezTo>
                  <a:cubicBezTo>
                    <a:pt x="9119" y="1392844"/>
                    <a:pt x="0" y="1370830"/>
                    <a:pt x="0" y="1347875"/>
                  </a:cubicBezTo>
                  <a:lnTo>
                    <a:pt x="0" y="86551"/>
                  </a:lnTo>
                  <a:cubicBezTo>
                    <a:pt x="0" y="63596"/>
                    <a:pt x="9119" y="41581"/>
                    <a:pt x="25350" y="25350"/>
                  </a:cubicBezTo>
                  <a:cubicBezTo>
                    <a:pt x="41581" y="9119"/>
                    <a:pt x="63596" y="0"/>
                    <a:pt x="865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1235036" cy="1424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098110" y="4056515"/>
            <a:ext cx="4160643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Future features: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07224" y="4841224"/>
            <a:ext cx="3884418" cy="412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5" lvl="1" indent="-280673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latin typeface="Telegraf" panose="020B0604020202020204" charset="0"/>
              </a:rPr>
              <a:t>Mail Guard AI successfully balances robust Machine Learning with strict heuristics to create a highly accurate, easy-to-understand cybersecurity tool.</a:t>
            </a:r>
            <a:endParaRPr lang="en-US" sz="2600" dirty="0">
              <a:solidFill>
                <a:srgbClr val="290606"/>
              </a:solidFill>
              <a:latin typeface="Telegraf" panose="020B0604020202020204" charset="0"/>
              <a:ea typeface="Telegraf"/>
              <a:cs typeface="Telegraf"/>
              <a:sym typeface="Telegraf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117699" y="4841224"/>
            <a:ext cx="4160643" cy="2280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latin typeface="Telegraf" panose="020B0604020202020204" charset="0"/>
              </a:rPr>
              <a:t>Transitioning from Logistic Regression to more advanced Deep Learning models (like Transformers).</a:t>
            </a:r>
            <a:endParaRPr lang="en-US" sz="2600" dirty="0">
              <a:solidFill>
                <a:srgbClr val="290606"/>
              </a:solidFill>
              <a:latin typeface="Telegraf" panose="020B0604020202020204" charset="0"/>
              <a:ea typeface="Telegraf"/>
              <a:cs typeface="Telegraf"/>
              <a:sym typeface="Telegraf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012385" y="4841224"/>
            <a:ext cx="4246368" cy="2274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5" lvl="1" indent="-280673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latin typeface="Telegraf" panose="020B0604020202020204" charset="0"/>
              </a:rPr>
              <a:t>Implementing live Web/URL scanning to detect malicious links nested inside the email body.</a:t>
            </a:r>
            <a:endParaRPr lang="en-US" sz="2600" dirty="0">
              <a:solidFill>
                <a:srgbClr val="290606"/>
              </a:solidFill>
              <a:latin typeface="Telegraf" panose="020B0604020202020204" charset="0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693</Words>
  <Application>Microsoft Office PowerPoint</Application>
  <PresentationFormat>Custom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Telegraf Bold</vt:lpstr>
      <vt:lpstr>Cheddar</vt:lpstr>
      <vt:lpstr>Calibri</vt:lpstr>
      <vt:lpstr>Arial</vt:lpstr>
      <vt:lpstr>Telegraf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Manas Gupta</cp:lastModifiedBy>
  <cp:revision>5</cp:revision>
  <dcterms:created xsi:type="dcterms:W3CDTF">2006-08-16T00:00:00Z</dcterms:created>
  <dcterms:modified xsi:type="dcterms:W3CDTF">2026-04-06T22:07:43Z</dcterms:modified>
  <dc:identifier>DAHGHBjk-ns</dc:identifier>
</cp:coreProperties>
</file>